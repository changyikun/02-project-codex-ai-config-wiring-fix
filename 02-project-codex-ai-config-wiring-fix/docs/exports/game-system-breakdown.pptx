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606d22b70b4dd6" /><Relationship Type="http://schemas.openxmlformats.org/officeDocument/2006/relationships/extended-properties" Target="/docProps/app.xml" Id="R4f05a2f3a06d4d16" /><Relationship Type="http://schemas.openxmlformats.org/officeDocument/2006/relationships/officeDocument" Target="/ppt/presentation.xml" Id="R83683b7dc27347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a589fdc2904475"/>
  </p:sldMasterIdLst>
  <p:notesMasterIdLst>
    <p:notesMasterId xmlns:r="http://schemas.openxmlformats.org/officeDocument/2006/relationships" r:id="Raeb5abe792da4a1e"/>
  </p:notesMasterIdLst>
  <p:sldIdLst>
    <p:sldId xmlns:r="http://schemas.openxmlformats.org/officeDocument/2006/relationships" id="256" r:id="Re90e77c633c847fc"/>
    <p:sldId xmlns:r="http://schemas.openxmlformats.org/officeDocument/2006/relationships" id="257" r:id="R39d20a71313a451b"/>
    <p:sldId xmlns:r="http://schemas.openxmlformats.org/officeDocument/2006/relationships" id="258" r:id="Rc75b8ee80dc94085"/>
    <p:sldId xmlns:r="http://schemas.openxmlformats.org/officeDocument/2006/relationships" id="259" r:id="R786360d0169a40d4"/>
    <p:sldId xmlns:r="http://schemas.openxmlformats.org/officeDocument/2006/relationships" id="260" r:id="R2aad00f80f0f444b"/>
    <p:sldId xmlns:r="http://schemas.openxmlformats.org/officeDocument/2006/relationships" id="261" r:id="R161376e2b3264edc"/>
    <p:sldId xmlns:r="http://schemas.openxmlformats.org/officeDocument/2006/relationships" id="262" r:id="R4923ba36bd0b4fad"/>
    <p:sldId xmlns:r="http://schemas.openxmlformats.org/officeDocument/2006/relationships" id="263" r:id="Reb04e200f46f482d"/>
    <p:sldId xmlns:r="http://schemas.openxmlformats.org/officeDocument/2006/relationships" id="264" r:id="R97a7b02e838240bd"/>
    <p:sldId xmlns:r="http://schemas.openxmlformats.org/officeDocument/2006/relationships" id="265" r:id="Rfd14b349c71d48c5"/>
    <p:sldId xmlns:r="http://schemas.openxmlformats.org/officeDocument/2006/relationships" id="266" r:id="Rad2a7936228c4d29"/>
    <p:sldId xmlns:r="http://schemas.openxmlformats.org/officeDocument/2006/relationships" id="267" r:id="R7dae8fea3ca049f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589fdc2904475" /><Relationship Type="http://schemas.openxmlformats.org/officeDocument/2006/relationships/theme" Target="/ppt/theme/theme1.xml" Id="R80e198708a584afc" /><Relationship Type="http://schemas.openxmlformats.org/officeDocument/2006/relationships/notesMaster" Target="/ppt/notesMasters/notesMaster1.xml" Id="Raeb5abe792da4a1e" /><Relationship Type="http://schemas.openxmlformats.org/officeDocument/2006/relationships/presProps" Target="/ppt/presProps.xml" Id="Rddb0b4ab06bb481d" /><Relationship Type="http://schemas.openxmlformats.org/officeDocument/2006/relationships/viewProps" Target="/ppt/viewProps.xml" Id="Rd37ce88558084545" /><Relationship Type="http://schemas.openxmlformats.org/officeDocument/2006/relationships/tableStyles" Target="/ppt/tableStyles.xml" Id="R8d2cd7b76b944689" /><Relationship Type="http://schemas.openxmlformats.org/officeDocument/2006/relationships/slide" Target="/ppt/slides/slide1.xml" Id="Re90e77c633c847fc" /><Relationship Type="http://schemas.openxmlformats.org/officeDocument/2006/relationships/slide" Target="/ppt/slides/slide2.xml" Id="R39d20a71313a451b" /><Relationship Type="http://schemas.openxmlformats.org/officeDocument/2006/relationships/slide" Target="/ppt/slides/slide3.xml" Id="Rc75b8ee80dc94085" /><Relationship Type="http://schemas.openxmlformats.org/officeDocument/2006/relationships/slide" Target="/ppt/slides/slide4.xml" Id="R786360d0169a40d4" /><Relationship Type="http://schemas.openxmlformats.org/officeDocument/2006/relationships/slide" Target="/ppt/slides/slide5.xml" Id="R2aad00f80f0f444b" /><Relationship Type="http://schemas.openxmlformats.org/officeDocument/2006/relationships/slide" Target="/ppt/slides/slide6.xml" Id="R161376e2b3264edc" /><Relationship Type="http://schemas.openxmlformats.org/officeDocument/2006/relationships/slide" Target="/ppt/slides/slide7.xml" Id="R4923ba36bd0b4fad" /><Relationship Type="http://schemas.openxmlformats.org/officeDocument/2006/relationships/slide" Target="/ppt/slides/slide8.xml" Id="Reb04e200f46f482d" /><Relationship Type="http://schemas.openxmlformats.org/officeDocument/2006/relationships/slide" Target="/ppt/slides/slide9.xml" Id="R97a7b02e838240bd" /><Relationship Type="http://schemas.openxmlformats.org/officeDocument/2006/relationships/slide" Target="/ppt/slides/slide10.xml" Id="Rfd14b349c71d48c5" /><Relationship Type="http://schemas.openxmlformats.org/officeDocument/2006/relationships/slide" Target="/ppt/slides/slide11.xml" Id="Rad2a7936228c4d29" /><Relationship Type="http://schemas.openxmlformats.org/officeDocument/2006/relationships/slide" Target="/ppt/slides/slide12.xml" Id="R7dae8fea3ca049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fedcdec0a9547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ea776728dd4db5" /><Relationship Type="http://schemas.openxmlformats.org/officeDocument/2006/relationships/notesMaster" Target="/ppt/notesMasters/notesMaster1.xml" Id="R1d0fd809a8e14e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5cba82660e449b" /><Relationship Type="http://schemas.openxmlformats.org/officeDocument/2006/relationships/notesMaster" Target="/ppt/notesMasters/notesMaster1.xml" Id="R55d58850e68943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4d1c11e5f1475a" /><Relationship Type="http://schemas.openxmlformats.org/officeDocument/2006/relationships/notesMaster" Target="/ppt/notesMasters/notesMaster1.xml" Id="R5291668c1307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1eba0e924c42e4" /><Relationship Type="http://schemas.openxmlformats.org/officeDocument/2006/relationships/notesMaster" Target="/ppt/notesMasters/notesMaster1.xml" Id="Rd30b7da107564b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d2584eb08b4bd7" /><Relationship Type="http://schemas.openxmlformats.org/officeDocument/2006/relationships/notesMaster" Target="/ppt/notesMasters/notesMaster1.xml" Id="R77fdb6b9b9fa44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ced7378a0f400a" /><Relationship Type="http://schemas.openxmlformats.org/officeDocument/2006/relationships/notesMaster" Target="/ppt/notesMasters/notesMaster1.xml" Id="Rab2b6df0cc7747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3563c2c3c24ecb" /><Relationship Type="http://schemas.openxmlformats.org/officeDocument/2006/relationships/notesMaster" Target="/ppt/notesMasters/notesMaster1.xml" Id="R8f127b4410304f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760847414248f0" /><Relationship Type="http://schemas.openxmlformats.org/officeDocument/2006/relationships/notesMaster" Target="/ppt/notesMasters/notesMaster1.xml" Id="R74b70d58c96a4f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d1f16b76b154236" /><Relationship Type="http://schemas.openxmlformats.org/officeDocument/2006/relationships/notesMaster" Target="/ppt/notesMasters/notesMaster1.xml" Id="R79856ca6b53242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7d3838af784cb3" /><Relationship Type="http://schemas.openxmlformats.org/officeDocument/2006/relationships/notesMaster" Target="/ppt/notesMasters/notesMaster1.xml" Id="R774daa98a08d45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144a359e043421a" /><Relationship Type="http://schemas.openxmlformats.org/officeDocument/2006/relationships/notesMaster" Target="/ppt/notesMasters/notesMaster1.xml" Id="Rf474e628c8ee49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c939a3e94343de" /><Relationship Type="http://schemas.openxmlformats.org/officeDocument/2006/relationships/notesMaster" Target="/ppt/notesMasters/notesMaster1.xml" Id="Re05e0411bdda4c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c2c791ab6492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0e143f235e54981" /><Relationship Type="http://schemas.openxmlformats.org/officeDocument/2006/relationships/slideLayout" Target="/ppt/slideLayouts/slideLayout2.xml" Id="R732666deb22c49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2666deb22c49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7232de7b3c497c" /><Relationship Type="http://schemas.openxmlformats.org/officeDocument/2006/relationships/notesSlide" Target="/ppt/notesSlides/notesSlide1.xml" Id="R8c0f5d2119714d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61383a99ca405a" /><Relationship Type="http://schemas.openxmlformats.org/officeDocument/2006/relationships/notesSlide" Target="/ppt/notesSlides/notesSlide2.xml" Id="R333d9186d14846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13604154164008" /><Relationship Type="http://schemas.openxmlformats.org/officeDocument/2006/relationships/notesSlide" Target="/ppt/notesSlides/notesSlide3.xml" Id="Ra5094799c1154d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ae8e4efe714fee" /><Relationship Type="http://schemas.openxmlformats.org/officeDocument/2006/relationships/notesSlide" Target="/ppt/notesSlides/notesSlide4.xml" Id="Rfdf90ac8e45c47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bacbc03af04d3a" /><Relationship Type="http://schemas.openxmlformats.org/officeDocument/2006/relationships/notesSlide" Target="/ppt/notesSlides/notesSlide5.xml" Id="R37fd90ce921b4e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b4598abc5c4a98" /><Relationship Type="http://schemas.openxmlformats.org/officeDocument/2006/relationships/notesSlide" Target="/ppt/notesSlides/notesSlide6.xml" Id="Rd1f09cd66afb42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e83e64e4f0405d" /><Relationship Type="http://schemas.openxmlformats.org/officeDocument/2006/relationships/notesSlide" Target="/ppt/notesSlides/notesSlide7.xml" Id="R97d6b5ce268447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7ab211fd0942c8" /><Relationship Type="http://schemas.openxmlformats.org/officeDocument/2006/relationships/notesSlide" Target="/ppt/notesSlides/notesSlide8.xml" Id="Rc8b9c44a43ca43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06fb5f1e354a43" /><Relationship Type="http://schemas.openxmlformats.org/officeDocument/2006/relationships/notesSlide" Target="/ppt/notesSlides/notesSlide9.xml" Id="Rcea395810b4d47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47fe6338534773" /><Relationship Type="http://schemas.openxmlformats.org/officeDocument/2006/relationships/notesSlide" Target="/ppt/notesSlides/notesSlide10.xml" Id="R4f14940b2cd148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6d6bd37a6c43d2" /><Relationship Type="http://schemas.openxmlformats.org/officeDocument/2006/relationships/notesSlide" Target="/ppt/notesSlides/notesSlide11.xml" Id="R38fa4624095d48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fcfc795a064716" /><Relationship Type="http://schemas.openxmlformats.org/officeDocument/2006/relationships/notesSlide" Target="/ppt/notesSlides/notesSlide12.xml" Id="R0222758e257e4c1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22ED4-8B8C-40F8-8B78-65992652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"/>
            <a:ext cx="49149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6450" b="1">
                <a:solidFill>
                  <a:srgbClr val="17324D"/>
                </a:solidFill>
              </a:defRPr>
            </a:pPr>
            <a:r>
              <a:rPr sz="6450" b="1">
                <a:solidFill>
                  <a:srgbClr val="17324D"/>
                </a:solidFill>
              </a:rPr>
              <a:t>后宫养成游戏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FB6A4-0E69-4053-A90D-2EF1E474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41148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67D8C"/>
                </a:solidFill>
              </a:defRPr>
            </a:pPr>
            <a:r>
              <a:rPr sz="5400" b="1">
                <a:solidFill>
                  <a:srgbClr val="267D8C"/>
                </a:solidFill>
              </a:rPr>
              <a:t>系统拆解汇报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4ACDD-95D1-4CD4-BCDB-3AC2B48C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FD3CE-7FD1-4A5C-A74B-CF6D29CF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11963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5B6670"/>
                </a:solidFill>
              </a:defRPr>
            </a:pPr>
            <a:r>
              <a:rPr sz="2250" b="0">
                <a:solidFill>
                  <a:srgbClr val="5B6670"/>
                </a:solidFill>
              </a:rPr>
              <a:t>以“旬行动 + 月结算”为骨架，串联路线、属性、后宫关系、宫斗案件、侍寝怀孕、位分权力与 AI 包装。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35849C-C1AE-4186-8D59-91020DA5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0590"/>
            <a:ext cx="5295900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8A4AF-F87F-4ACB-9B88-E31400B4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系统策划版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04E81-F0F0-4BC1-A4BF-7F90B105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20590"/>
            <a:ext cx="5295900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D8230-9488-4EF1-9096-C5A87D48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8196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DOCX 完整报告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0571B-C55C-4451-8623-4A4ADDFD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720590"/>
            <a:ext cx="5295900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D47B1-197D-4BA5-A838-6DC01EB6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481965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PPTX 汇报版</a:t>
            </a:r>
          </a:p>
        </p:txBody>
      </p:sp>
    </p:spTree>
    <p:extLst>
      <p:ext uri="{BB962C8B-B14F-4D97-AF65-F5344CB8AC3E}">
        <p14:creationId xmlns:p14="http://schemas.microsoft.com/office/powerpoint/2010/main" val="19935979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AA7BE9-86A1-4792-A61B-A44B5F40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项目定位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98B2-5BD3-417E-857B-F0268886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CCD67-E4ED-42E3-BE8A-ECC99BF2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宫斗 / 剧情 / 数值养成的横屏古风视觉小说舞台。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71315-C047-4997-B96D-47B573B8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6955"/>
            <a:ext cx="5461000" cy="3513773"/>
          </a:xfrm>
          <a:prstGeom xmlns:a="http://schemas.openxmlformats.org/drawingml/2006/main" prst="roundRect">
            <a:avLst>
              <a:gd name="adj" fmla="val 27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73775-9C74-4F5D-9702-D4668DC6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操作单位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D07C4-A7B9-4B80-8987-D058EAE0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每旬 7 个时间格，每月 3 旬，每年 12 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4C07FE-3155-4728-8679-60E26900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306955"/>
            <a:ext cx="5461000" cy="3513773"/>
          </a:xfrm>
          <a:prstGeom xmlns:a="http://schemas.openxmlformats.org/drawingml/2006/main" prst="roundRect">
            <a:avLst>
              <a:gd name="adj" fmla="val 27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28547E-45F3-445F-B14F-E0C7FFD8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核心体验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EAD4E-6B10-48F7-BC05-45BB5370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选线入宫、分配属性、行动经营、触发关系与月结算。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BA345-5ED1-46A2-8197-5F07C203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306955"/>
            <a:ext cx="5461000" cy="3513773"/>
          </a:xfrm>
          <a:prstGeom xmlns:a="http://schemas.openxmlformats.org/drawingml/2006/main" prst="roundRect">
            <a:avLst>
              <a:gd name="adj" fmla="val 27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D4AF8-98BA-4B97-B986-24BAFEF4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5146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技术形态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B78DA8-44E7-45E9-BB3F-72D78F34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8956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React + Vite 前端，Zustand 状态，Fastify 后端。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C3D3D-8F90-43B4-BE8D-1FC692F4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49327"/>
            <a:ext cx="5461000" cy="3513773"/>
          </a:xfrm>
          <a:prstGeom xmlns:a="http://schemas.openxmlformats.org/drawingml/2006/main" prst="roundRect">
            <a:avLst>
              <a:gd name="adj" fmla="val 27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EEDBE-3F90-4743-99EC-489C333B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674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AI 定位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6D605-D1BC-4AD0-861F-6DF5366F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294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AI 负责文本与倾向；硬数值由系统规则钳制。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667BD-DC11-4884-81D9-001FE7EF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6049327"/>
            <a:ext cx="5461000" cy="3513773"/>
          </a:xfrm>
          <a:prstGeom xmlns:a="http://schemas.openxmlformats.org/drawingml/2006/main" prst="roundRect">
            <a:avLst>
              <a:gd name="adj" fmla="val 27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1A727-3A80-42B4-AD96-618AB7B6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674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当前落地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B3011-1444-4D4C-B829-004B0D2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294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启动、路线、属性、开场、地图、寝殿与部分面板。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9FBBE-319C-45DE-A9DC-D39E007D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6049327"/>
            <a:ext cx="5461000" cy="3513773"/>
          </a:xfrm>
          <a:prstGeom xmlns:a="http://schemas.openxmlformats.org/drawingml/2006/main" prst="roundRect">
            <a:avLst>
              <a:gd name="adj" fmla="val 271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879176-EF0B-4D56-B24C-4A1510DC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2674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主风险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9E96B5-32A9-4FC7-8997-248A0317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6294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规则文档很完整，玩法入口需先做纵向闭环。</a:t>
            </a:r>
          </a:p>
        </p:txBody>
      </p:sp>
    </p:spTree>
    <p:extLst>
      <p:ext uri="{BB962C8B-B14F-4D97-AF65-F5344CB8AC3E}">
        <p14:creationId xmlns:p14="http://schemas.microsoft.com/office/powerpoint/2010/main" val="7296284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59B58-0994-4DE9-8C09-37E48333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总体系统架构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FF530-BDDE-4777-964E-DE3A4556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1495F-CA02-43EC-952D-F6289A95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6705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前端舞台、状态仓库、规则配置、后端 AI 与 Foundation 服务分层。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D2338-4EA5-4692-8FF1-F6A53FAE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5186934" cy="1291590"/>
          </a:xfrm>
          <a:prstGeom xmlns:a="http://schemas.openxmlformats.org/drawingml/2006/main" prst="roundRect">
            <a:avLst>
              <a:gd name="adj" fmla="val 73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BA240-22A9-46B9-ACF1-4718A222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464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前端舞台层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A2945-3414-4EB1-ABCF-0FB0B6A9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648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App / Views / Components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负责页面流程、地图、寝殿、状态展示。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9DB0A-BC38-4C49-9320-F73065F0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33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7C2B3-FAB3-4F53-B508-3887F02A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0533" y="2524125"/>
            <a:ext cx="5186934" cy="1291590"/>
          </a:xfrm>
          <a:prstGeom xmlns:a="http://schemas.openxmlformats.org/drawingml/2006/main" prst="roundRect">
            <a:avLst>
              <a:gd name="adj" fmla="val 73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0BE6C-F024-4C0C-87FF-D93C8F58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43200"/>
            <a:ext cx="464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游戏状态层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17F77-EBAC-4D89-866C-4669ABC4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05150"/>
            <a:ext cx="4648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gameFlowStore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存档真值、时间、资源、妃嫔、关系、物品。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3AAB1-BEFB-4886-AA61-B59FFEBB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2533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2E1EB-3212-4A74-9536-120501A6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166" y="2524125"/>
            <a:ext cx="5186934" cy="1291590"/>
          </a:xfrm>
          <a:prstGeom xmlns:a="http://schemas.openxmlformats.org/drawingml/2006/main" prst="roundRect">
            <a:avLst>
              <a:gd name="adj" fmla="val 73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3EDA7-3971-4D4A-B784-8AC80BF6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743200"/>
            <a:ext cx="4648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规则运行层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B36DD-9E43-4B22-A58C-412DBFDA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105150"/>
            <a:ext cx="4648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src/config + src/game/lib</a:t>
            </a:r>
          </a:p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硬规则、兜底文本、合法性与收益结算。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9AB75-658E-4B04-84AA-B3B3EF29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24675"/>
            <a:ext cx="5486400" cy="1040130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FC560-9841-40A9-B0C0-A5F1D6DD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1437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Fastify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F13B3-28F4-43F8-95CD-6103B5DD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5057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统一承接 AI 与 Foundation 路由。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43644-E0DB-44E0-BC46-7F21DE1B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924675"/>
            <a:ext cx="5486400" cy="1040130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4E1E8-A152-436C-96C6-DB782D16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1437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AI 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66E8B-FD28-4124-81B4-7BE02E63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5057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开场、妃嫔对话、关系判定、地点氛围。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8737D-F79A-4084-B3D6-E727483F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924675"/>
            <a:ext cx="5486400" cy="1040130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15B5B-F111-40C8-B324-3171A1EA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143750"/>
            <a:ext cx="495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Foundation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13041-5ACE-4DA8-B269-689243B4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750570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家世、福德、月结、晋升、储君与结局校验。</a:t>
            </a:r>
          </a:p>
        </p:txBody>
      </p:sp>
    </p:spTree>
    <p:extLst>
      <p:ext uri="{BB962C8B-B14F-4D97-AF65-F5344CB8AC3E}">
        <p14:creationId xmlns:p14="http://schemas.microsoft.com/office/powerpoint/2010/main" val="1935891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1C1F6-0D6D-467C-9E59-21D0A781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玩家主流程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A1883-A781-4A45-A295-DDA2AF5B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ADAC9-6580-4C3B-B8FC-C2C2BF90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029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当前实现已能从启动一路进入地图与寝殿主循环。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4C2B4-51D5-454E-99E6-A7B1282C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4105"/>
            <a:ext cx="236886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0E617-02C2-49BD-85B2-EA9FE516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启动封面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C24B4-6E93-4987-A81C-5DF49311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622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6EB21-EEBB-440B-B452-35E84435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166" y="2364105"/>
            <a:ext cx="236886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35B48-C675-4F6F-A784-CA98D4C1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57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路线选择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50CE38-020B-4129-94CB-BFE08B66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DC9F2-A3A7-431D-860C-321C3D2D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433" y="2364105"/>
            <a:ext cx="236886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FBAF7-0C1D-4B37-83C5-1C08998C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属性分配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34700-7564-47EE-BA25-6E21415B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622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071EE-2EE4-4706-A762-39F28EF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699" y="2364105"/>
            <a:ext cx="236886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C5808-BC1B-4F3C-9824-3A6B941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57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娇娇引导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2A800-7855-40DE-88D2-7765BEB3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622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1EDDD-7480-4CBD-AC92-A97B50A0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0966" y="2364105"/>
            <a:ext cx="236886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63DB0-4B2E-437B-A7E5-C7663547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2457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宫廷地图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A6D389-7D2F-4DF1-9E6E-705BBC91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23622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96127-3206-40FE-8766-4D791BA8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5232" y="2364105"/>
            <a:ext cx="236886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B1570-EF27-48C2-8CA7-3CA81903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2400" y="2457450"/>
            <a:ext cx="1981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寝殿主界面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B80840-E9FB-43F5-8F56-5E496CCE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3955"/>
            <a:ext cx="5461000" cy="4589145"/>
          </a:xfrm>
          <a:prstGeom xmlns:a="http://schemas.openxmlformats.org/drawingml/2006/main" prst="roundRect">
            <a:avLst>
              <a:gd name="adj" fmla="val 20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3A3A5E-4F0C-4608-AA6D-127E0EFD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816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地图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5FA775-E9DA-4FC3-90C7-784538E9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26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地点热点、宫门 NPC、交易、地点场景入口。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50B33-D4A9-4E32-93CC-32101BBF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973955"/>
            <a:ext cx="5461000" cy="4589145"/>
          </a:xfrm>
          <a:prstGeom xmlns:a="http://schemas.openxmlformats.org/drawingml/2006/main" prst="roundRect">
            <a:avLst>
              <a:gd name="adj" fmla="val 20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8033C8-C28A-4CC2-A33E-415796F9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1816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寝殿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8E7D0-2560-49BF-AD83-B6A4F2E5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626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学习、休息、外出、结束本旬、系统面板。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29895F-D671-44D6-BA3B-6BF0A67B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4973955"/>
            <a:ext cx="5461000" cy="4589145"/>
          </a:xfrm>
          <a:prstGeom xmlns:a="http://schemas.openxmlformats.org/drawingml/2006/main" prst="roundRect">
            <a:avLst>
              <a:gd name="adj" fmla="val 2076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4A04D-4DBE-4129-882C-F0017DD8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1816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面板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DA81E6-396C-4CBA-AB63-C7941A15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5626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属性、妃嫔、情缘、纪事、物品、宫务、杂项。</a:t>
            </a:r>
          </a:p>
        </p:txBody>
      </p:sp>
    </p:spTree>
    <p:extLst>
      <p:ext uri="{BB962C8B-B14F-4D97-AF65-F5344CB8AC3E}">
        <p14:creationId xmlns:p14="http://schemas.microsoft.com/office/powerpoint/2010/main" val="19149515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90ABFB-4AEA-4D8B-8828-9B7E49B3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核心循环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D3F9E-CB2F-4366-8230-AEB5EBFA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91501-CB61-4D17-808A-4937E472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571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玩家的有效选择由体力、时间格和月结算压力共同限制。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0B455-2872-4DAF-A4EA-56033D58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7905"/>
            <a:ext cx="240061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5B9C8-BDA2-40C1-80DA-86A9A94E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201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旬初清晨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0348F-83DA-4B5C-BEE3-4685092D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8B1AE-ED1C-4BEE-9A0C-03F41D5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16" y="2287905"/>
            <a:ext cx="240061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7B84E-13D5-48FA-BD6F-DCF3FB08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201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查看状态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E342A-101E-4400-8A7C-8DF39542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860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05C38-A415-4330-A846-086E880D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733" y="2287905"/>
            <a:ext cx="240061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4EDD3E-6920-4065-A81A-A2A828E7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201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选择行动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186226-080E-47A5-A2CD-551B50DA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860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BE27AA-E667-449F-9167-037B4E34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649" y="2287905"/>
            <a:ext cx="240061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FF4DE-0EB9-4263-9792-31C1BBD3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81250"/>
            <a:ext cx="201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扣资源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48FD0-9177-4FB7-A07A-1541902A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2860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AD71B-1ECA-4FB2-8628-8298F917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5566" y="2287905"/>
            <a:ext cx="240061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D5C619-3F65-49EF-BE79-5A77BAA4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381250"/>
            <a:ext cx="201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硬规则结算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365612-0C83-4EDB-9025-FE8533D2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22860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1A31D-3C14-438D-A5F5-2757F24E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482" y="2287905"/>
            <a:ext cx="2400618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4E89F1-F433-4342-8F45-3E77D7A2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54300" y="2381250"/>
            <a:ext cx="2019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文本包装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B3B32C-A29F-4EB9-9825-E08F5936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0555"/>
            <a:ext cx="384457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95C38-24AD-4F1B-A9E5-04F3967B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3390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7 格耗尽/结束本旬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D503A-FBCD-47D8-9419-DC331653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38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7AD5F-A769-4D1E-B1AA-D9C0C07A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775" y="4440555"/>
            <a:ext cx="384457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68368-6069-43FD-8601-5630C87F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3390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下一旬清晨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CCC5C4-3D84-4AE6-B38E-3444B5CA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38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DA1050-AA56-4A88-8160-DBE1AF2F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649" y="4440555"/>
            <a:ext cx="384457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8AA003-D86C-4576-8408-4421D266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3390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跨 3 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FFEFBD-E76E-46F9-B3B8-85924F2B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4386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68D2D0-44BE-417D-BBEC-E52E9203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9524" y="4440555"/>
            <a:ext cx="384457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29BC20-646A-4F80-AD7E-E550827A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533900"/>
            <a:ext cx="346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月结算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1EA028-3C8F-47D4-8867-9E24EC84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2705"/>
            <a:ext cx="4081463" cy="3160395"/>
          </a:xfrm>
          <a:prstGeom xmlns:a="http://schemas.openxmlformats.org/drawingml/2006/main" prst="roundRect">
            <a:avLst>
              <a:gd name="adj" fmla="val 301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F97724-0DAF-40BB-9EC8-6F1FDDFF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10350"/>
            <a:ext cx="354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经济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1397D8-E717-4F9B-BFE1-E0806B7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9135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月俸 - 宫务开销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C33BB8-B1B1-4D77-ABFC-CE399ABA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6402705"/>
            <a:ext cx="4081463" cy="3160395"/>
          </a:xfrm>
          <a:prstGeom xmlns:a="http://schemas.openxmlformats.org/drawingml/2006/main" prst="roundRect">
            <a:avLst>
              <a:gd name="adj" fmla="val 301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1D12F9-CBB3-47D9-B942-FFE80305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610350"/>
            <a:ext cx="354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身份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2FA4BF-3F5B-49C3-89E0-377AA3D0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99135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声望推进位分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74EB0B-FDC1-4085-A9A8-8309F0FA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6402705"/>
            <a:ext cx="4081463" cy="3160395"/>
          </a:xfrm>
          <a:prstGeom xmlns:a="http://schemas.openxmlformats.org/drawingml/2006/main" prst="roundRect">
            <a:avLst>
              <a:gd name="adj" fmla="val 301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61F481-0C47-4D48-9BEA-71834D80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610350"/>
            <a:ext cx="354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风险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0D738E-935D-45CD-B89F-AC82A80F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99135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压力、健康、冷宫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A8F873-B687-45B3-8AEF-6C8104A5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6402705"/>
            <a:ext cx="4081463" cy="3160395"/>
          </a:xfrm>
          <a:prstGeom xmlns:a="http://schemas.openxmlformats.org/drawingml/2006/main" prst="roundRect">
            <a:avLst>
              <a:gd name="adj" fmla="val 3014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B3B250-41EA-4F89-8526-66FEAE7B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610350"/>
            <a:ext cx="354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事件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E03148E-8D38-4C4A-BAC6-853360BE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699135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宴会、选秀、避暑</a:t>
            </a:r>
          </a:p>
        </p:txBody>
      </p:sp>
    </p:spTree>
    <p:extLst>
      <p:ext uri="{BB962C8B-B14F-4D97-AF65-F5344CB8AC3E}">
        <p14:creationId xmlns:p14="http://schemas.microsoft.com/office/powerpoint/2010/main" val="3406491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C75B1-420B-430F-B203-7EB52E93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系统地图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277FA-9297-43FB-A99E-DBB78972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7543C-9BBE-4970-9E9E-6A461990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200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六大系统群共同构成后宫沙盘。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55779-1A75-494F-AD97-9C0DEE1B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0755"/>
            <a:ext cx="5461000" cy="3551873"/>
          </a:xfrm>
          <a:prstGeom xmlns:a="http://schemas.openxmlformats.org/drawingml/2006/main" prst="roundRect">
            <a:avLst>
              <a:gd name="adj" fmla="val 26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7504A-2E6F-49E7-A3E7-20768FAD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时间经营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A2E7E-5D3F-4B44-8F8A-72B7F889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年月旬、七时间格、旬初体力重算、月结算。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F9DAD-F291-49BA-9048-00140E78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230755"/>
            <a:ext cx="5461000" cy="3551873"/>
          </a:xfrm>
          <a:prstGeom xmlns:a="http://schemas.openxmlformats.org/drawingml/2006/main" prst="roundRect">
            <a:avLst>
              <a:gd name="adj" fmla="val 26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E0FBD-5A5A-41E5-A304-52E2A41F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384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玩家成长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204CC-EEAD-40D0-9D0A-1BD48865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1940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主属性、副属性、银两、声望、宠爱、压力、真心值。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7B250-262C-4C88-BEE5-70AE4C80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230755"/>
            <a:ext cx="5461000" cy="3551873"/>
          </a:xfrm>
          <a:prstGeom xmlns:a="http://schemas.openxmlformats.org/drawingml/2006/main" prst="roundRect">
            <a:avLst>
              <a:gd name="adj" fmla="val 26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0E5A8-7A03-494F-94AB-5CD0D7B6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4384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后宫生态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73E0D-F110-46E6-9E64-3643DA7E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8194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妃嫔名单、宠爱档位、关系倾情、位分居所、冷宫。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68CE9-8959-4F8E-92F6-1C3FD5C7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1227"/>
            <a:ext cx="5461000" cy="3551873"/>
          </a:xfrm>
          <a:prstGeom xmlns:a="http://schemas.openxmlformats.org/drawingml/2006/main" prst="roundRect">
            <a:avLst>
              <a:gd name="adj" fmla="val 26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98355-171B-4B5B-86A5-245CC87C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293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事件系统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7FB47-7C77-45F1-815C-8994C5F8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宫宴、家宴、选秀、避暑、宫斗案件、侍寝怀孕。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82541F-AAE1-42C2-8507-B58A6CCF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6011227"/>
            <a:ext cx="5461000" cy="3551873"/>
          </a:xfrm>
          <a:prstGeom xmlns:a="http://schemas.openxmlformats.org/drawingml/2006/main" prst="roundRect">
            <a:avLst>
              <a:gd name="adj" fmla="val 26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65EF9C-3A8C-4C62-BE92-6A07A0FC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外部经营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182D61-3356-4A9A-B68B-B7978C81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5913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家族、朝堂、皇嗣、杜娘交易。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81674-1340-4764-A7CC-0D0937D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6011227"/>
            <a:ext cx="5461000" cy="3551873"/>
          </a:xfrm>
          <a:prstGeom xmlns:a="http://schemas.openxmlformats.org/drawingml/2006/main" prst="roundRect">
            <a:avLst>
              <a:gd name="adj" fmla="val 268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D0D9E6-261F-4F3B-949C-DF8A8C30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2293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AI 包装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2531B2-855B-465A-8EA8-2C440D33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5913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开场、妃嫔对话、关系倾向、地点氛围、本地兜底。</a:t>
            </a:r>
          </a:p>
        </p:txBody>
      </p:sp>
    </p:spTree>
    <p:extLst>
      <p:ext uri="{BB962C8B-B14F-4D97-AF65-F5344CB8AC3E}">
        <p14:creationId xmlns:p14="http://schemas.microsoft.com/office/powerpoint/2010/main" val="5736101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FA4155-EAB7-4591-BCF9-EBEE9640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核心状态模型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671219-362A-4BCE-B590-F99EB6F4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A7A99-E6E1-4C15-B611-6AD6D8E7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6972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当前游戏真值集中在 Zustand store，后续应向统一 SaveGameV1 收口。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A4262-2DD1-4C3A-9C36-C17D9A4D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5461000" cy="1291590"/>
          </a:xfrm>
          <a:prstGeom xmlns:a="http://schemas.openxmlformats.org/drawingml/2006/main" prst="roundRect">
            <a:avLst>
              <a:gd name="adj" fmla="val 73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CB4FB-173E-4964-B048-DBD7E629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GameNumericsState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336FE-F39D-4943-AD5C-083DB3D8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姓名、年龄、家世、路线、体力、银两、声望、宠爱、压力、真心值、stats、flags。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BAB2C-944E-47A7-AB7D-C2CAE75B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543175"/>
            <a:ext cx="5461000" cy="1040130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98E89-11B8-4D9F-ACC8-3663AF20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622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PalaceTimeState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14A76-E4FA-4338-9FEF-1CCDE9F7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year / month / xun / slotIndex / slot / slotProgress。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A9B86-F0E2-4C62-8E07-1F0BD19E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543175"/>
            <a:ext cx="5461000" cy="1291590"/>
          </a:xfrm>
          <a:prstGeom xmlns:a="http://schemas.openxmlformats.org/drawingml/2006/main" prst="roundRect">
            <a:avLst>
              <a:gd name="adj" fmla="val 7375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85691-8224-48DE-822F-F0B2BA72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7622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Concubine + Bond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F348D6-5A73-4D7C-B783-7885A535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312420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妃嫔档案、关系进度、每旬好感/倾情变化上限、最近上下文。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3E0B3-E3CB-44D9-A51C-0F2DC80A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239250"/>
            <a:ext cx="16840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策划判断：状态模型是后续所有系统接入的第一优先级，避免宫斗、怀孕、皇嗣各自维护真值。</a:t>
            </a:r>
          </a:p>
        </p:txBody>
      </p:sp>
    </p:spTree>
    <p:extLst>
      <p:ext uri="{BB962C8B-B14F-4D97-AF65-F5344CB8AC3E}">
        <p14:creationId xmlns:p14="http://schemas.microsoft.com/office/powerpoint/2010/main" val="12463528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258DB4-75E7-46FF-B1CA-BB43BF37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路线与地图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F11C1-48A9-46B9-8BAD-2FFFFF7E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9275A-C943-453D-8318-51F7448A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662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四条路线共用后宫沙盘，但初始资源、关键节点和结局目标不同。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B43057-47DA-418F-90D3-ACFA4F38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8855"/>
            <a:ext cx="4081463" cy="3429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802A6-F5AF-469F-A8E0-305B4D15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354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兰因絮果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D350C-5C5E-4F59-B922-979AE9BD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3543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权力线：摄政、独宠、共主、归隐等。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5B93E-2C7E-48C6-A286-96C18324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2268855"/>
            <a:ext cx="4081463" cy="3429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10E0B-6653-46D8-A5FD-503B06F4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354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浮生如梦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A60D6-17F7-4770-9BD2-EF279554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3543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标准剧情线：非意外结局与情感叙事。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398E3-F61C-4D0E-A8D2-6D635504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268855"/>
            <a:ext cx="4081463" cy="3429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512A4-8FFB-43E8-86AA-9E4E171A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76500"/>
            <a:ext cx="354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影落掖庭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6958B-1698-4F83-B8B3-1BEE4FCC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57500"/>
            <a:ext cx="3543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翻案线：低资源、证据、沉冤得雪。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499F1-9BEE-4D98-ACEE-F1CB9AA1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2638" y="2268855"/>
            <a:ext cx="4081463" cy="3429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AD2A1-FF09-43DF-8228-F156FB9A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476500"/>
            <a:ext cx="3543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尘缘夙错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5411F-AF2C-449A-B837-D0A653B6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857500"/>
            <a:ext cx="3543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异国线：和亲、故国、阿翎、改朝换代。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294A2-5467-4023-AE15-D5C43ACA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1705"/>
            <a:ext cx="5461000" cy="1040130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0C3F4-D9A3-4B50-BBEC-5C21BAED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293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公共地点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69DD0B-8A7F-4777-A0FA-D08D3D8C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10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御膳房、太医院、宝华殿、妙音堂、华清池、宫门。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2F47AC-590B-441F-A65C-205C3D20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6021705"/>
            <a:ext cx="5461000" cy="1040130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F9B242-531B-4C6F-A783-8A869F6B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2293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事件地点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1A956-9B0C-45A6-AB71-6C64FAAF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610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养心殿仅在侍寝等事件触发时开放。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38451-DE23-4ADC-AAE6-1EF13396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6021705"/>
            <a:ext cx="5461000" cy="1040130"/>
          </a:xfrm>
          <a:prstGeom xmlns:a="http://schemas.openxmlformats.org/drawingml/2006/main" prst="roundRect">
            <a:avLst>
              <a:gd name="adj" fmla="val 915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0AB5D-F04D-486F-9447-7A9FA58A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2293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后宫宫殿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553AD-2A47-4EB5-BBA5-24835BF3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61035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十二宫、妃嫔居所、位分容量与迁宫规则。</a:t>
            </a:r>
          </a:p>
        </p:txBody>
      </p:sp>
    </p:spTree>
    <p:extLst>
      <p:ext uri="{BB962C8B-B14F-4D97-AF65-F5344CB8AC3E}">
        <p14:creationId xmlns:p14="http://schemas.microsoft.com/office/powerpoint/2010/main" val="179770112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B22367-957A-4E62-8F08-1EFC9D4F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后宫关系与宫斗案件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36AFE-CD9C-4734-A282-2853CC55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8BE8E-8D61-4CE4-94F8-A02B325B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667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普通关系走 AI/兜底倾向；硬事件走强制覆盖。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DB749-81E1-4D3C-8A24-B82474FD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8855"/>
            <a:ext cx="378742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2E65A-650C-4CF0-8071-3BC8C2B1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普通对话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533510-D42A-4ACE-802B-CFC8BEAA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FA565-6807-42FF-865F-5D23E2F2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825" y="2268855"/>
            <a:ext cx="378742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162A2-10D7-496B-8E0E-5661F4AA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6220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关系倾向判定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ECF49-56EF-4B45-8039-DA69221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293F86-E846-40E3-A7B2-73F4FFFA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749" y="2268855"/>
            <a:ext cx="378742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13CA3-2E88-4558-8221-CB2D0C23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6220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每旬上限钳制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B9446-5AFD-4AC2-899C-4A6DA572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22669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54D9E-5856-48EB-8B0C-AC7DCB96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6674" y="2268855"/>
            <a:ext cx="378742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1D6D2-9CA4-47E2-BBBE-925DD4A6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236220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写入关系进度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FE0F8-A522-4F83-87B1-4CDAE880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3455"/>
            <a:ext cx="378742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5BDB3-6B80-45FB-90EE-7EB3FC3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造谣/下毒/陷害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5BE21-72BC-4471-B8BB-BDD40F74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815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3641CF-2F58-43BD-B1D9-C015313A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825" y="4783455"/>
            <a:ext cx="378742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2F06A-1F63-41A2-8895-A391E633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7680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扣福德/增压力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FF0FF8-6BF0-4801-B2FA-C1882F43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7815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91868F-F611-4036-A8D9-67F1E504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5749" y="4783455"/>
            <a:ext cx="378742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DDEE9E-4218-4E78-9FFD-A711BFC8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87680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两次检定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411BC-1052-41A7-9B75-1EC6A4FB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3100" y="47815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56BF0-D2A5-4C82-9328-EE304450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6674" y="4783455"/>
            <a:ext cx="3787426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C4CA63-CD7D-4CD9-BD92-6BB2AEB2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876800"/>
            <a:ext cx="340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案件/惩处/冷宫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5FF534-6226-4F94-BBCE-7D82364D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96150"/>
            <a:ext cx="16840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B6670"/>
                </a:solidFill>
              </a:defRPr>
            </a:pPr>
            <a:r>
              <a:rPr sz="1950" b="0">
                <a:solidFill>
                  <a:srgbClr val="5B6670"/>
                </a:solidFill>
              </a:rPr>
              <a:t>案件干预统一口径：20 银两 -&gt; 5 点嫌疑变化；结案确认后关系不走普通增减，按事件轻中重硬覆盖。</a:t>
            </a:r>
          </a:p>
        </p:txBody>
      </p:sp>
    </p:spTree>
    <p:extLst>
      <p:ext uri="{BB962C8B-B14F-4D97-AF65-F5344CB8AC3E}">
        <p14:creationId xmlns:p14="http://schemas.microsoft.com/office/powerpoint/2010/main" val="211765190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D6A0B8-F652-4F91-89CE-8791941A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侍寝、怀孕与皇嗣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8CC13-98BC-41E9-90D9-33EA8580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EC6012-E59D-4673-A7D6-25590C97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夜晚不是独立百分比，而是互动池权重抽取。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0444E-B497-403C-B7D8-C539F1F1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885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BFB61-DBE9-4D97-8E69-AEF37A35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夜晚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2A8E9-FC8F-417E-B7A6-01CD168E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669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F677E-5793-4FC2-B33B-468ECB8D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400" y="226885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D6516-4826-43BC-9D4A-2074819C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6220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独寝判定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9472E-64D6-473B-84D5-9702F879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669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4A2A6-A467-4172-A9F3-45A4D932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00" y="226885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E73B5-F537-4F0C-A9EC-B30FDEA6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互动池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925FC-211E-43A7-B030-0D09BCD0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669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F48955-70B0-43AB-A1A3-95F1D2AB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399" y="226885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BFF16-371D-4080-98E4-E01CBC99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36220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权重抽取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EF704D-6E86-4E90-B7C8-B7418E22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22669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70E67-976D-4C9F-8F70-13ABE17B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5899" y="226885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E7089-34F9-495C-AC00-00329A96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236220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侍寝对象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1C54D5-9A40-43DA-961B-66EB1A43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820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7A8152-72D7-449F-B1AD-AD9A57EBF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玩家侍寝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F0FE4-5281-4A11-AE54-948727AD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863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97F0B0-7D4B-4277-87D4-6B41484B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400" y="468820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A8FC47-70B7-4C87-AC4D-70AE8F43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8155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兴致互动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B4EE2F-B2F9-48FD-BB7A-8A0AB32B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863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7AFAA8-24F3-4471-B5DF-578D82FF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00" y="468820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38C6B-090C-4980-98AF-6A622C93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8155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怀孕判定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1054C-5398-49B9-B32B-C65384FE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6863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2E219C-D82F-4857-9BBF-5F934248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399" y="468820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A897AC-64ED-4D31-898A-F2B63599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78155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生产风险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138DE6-4BDD-4A0B-AC45-7E3DEB3C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46863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C196E-4AED-41F6-8481-9B1A3505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5899" y="468820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B8113-5B44-4F4F-AD69-6527AACC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478155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皇嗣养成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1F67EA-869F-4ADE-89F2-03BA6EE3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107555"/>
            <a:ext cx="5499100" cy="2455545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C7E8A2-7506-439D-BE09-5BA12D51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315200"/>
            <a:ext cx="497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冷却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594866-D4DB-445C-835A-92C8C1CB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962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生产/流产后 3 个月不能怀孕。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CB4E51-85F2-4499-B8CA-66039875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7107555"/>
            <a:ext cx="5499100" cy="2455545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00B4E9-A1C0-4DAD-90F3-6D3B204A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315200"/>
            <a:ext cx="497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健康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3C5353-8FC3-4314-85FC-94C18EB8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6962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生产风险按生产时健康分层。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C44BB9-A007-432B-A620-BBE3C941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7107555"/>
            <a:ext cx="5499100" cy="2455545"/>
          </a:xfrm>
          <a:prstGeom xmlns:a="http://schemas.openxmlformats.org/drawingml/2006/main" prst="roundRect">
            <a:avLst>
              <a:gd name="adj" fmla="val 3879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A594C0-A962-4E36-8FA4-36FAD2AB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315200"/>
            <a:ext cx="4972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立储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AF4E0A-0280-447F-A9AE-CFD97292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76962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生母血脉、路线例外、朝臣支持共同决定。</a:t>
            </a:r>
          </a:p>
        </p:txBody>
      </p:sp>
    </p:spTree>
    <p:extLst>
      <p:ext uri="{BB962C8B-B14F-4D97-AF65-F5344CB8AC3E}">
        <p14:creationId xmlns:p14="http://schemas.microsoft.com/office/powerpoint/2010/main" val="3403599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620DA4-A62B-4DB4-AC06-A78285AA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AI 与硬规则边界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2B580-D041-4469-8702-589BD44C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8FFF5-CA25-45B7-A07F-4832A517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448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AI 是叙事层增强，不是数值裁判。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C2B86-90D8-4FDC-8F12-719B52A5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291724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1FD1F-E979-4590-9422-C44590CB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533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玩家选择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71761-4E50-4D13-ABA2-BCC7C7D2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004ED-2A82-4942-8C80-E0BBD105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640" y="2562225"/>
            <a:ext cx="291724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BCBE7-3DFD-416B-9351-A5B7879B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67000"/>
            <a:ext cx="2533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D4E89"/>
                </a:solidFill>
              </a:defRPr>
            </a:pPr>
            <a:r>
              <a:rPr sz="1650" b="1">
                <a:solidFill>
                  <a:srgbClr val="1D4E89"/>
                </a:solidFill>
              </a:rPr>
              <a:t>合法性检查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8E4C9-CB4A-4599-95C3-069BB759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717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477F7-5A66-427E-AF5C-5169EDC2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5380" y="2562225"/>
            <a:ext cx="291724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C4339-CA2D-4C2E-BEA6-52E6D572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67000"/>
            <a:ext cx="2533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7D8C"/>
                </a:solidFill>
              </a:defRPr>
            </a:pPr>
            <a:r>
              <a:rPr sz="1650" b="1">
                <a:solidFill>
                  <a:srgbClr val="267D8C"/>
                </a:solidFill>
              </a:rPr>
              <a:t>AI 文本/倾向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BD89A-CC5A-4BB2-AE65-4547BD42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5717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5E2B2-87C0-4360-BC7D-E59E95C9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6119" y="2562225"/>
            <a:ext cx="291724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7B3E55-881C-466A-ABA4-E7A59C7A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0"/>
            <a:ext cx="2533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硬规则钳制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780BA-EA8A-4CDD-9E64-F0CA9519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257175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57BE96-CA47-4E4A-B8F1-E5155EEE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6859" y="2562225"/>
            <a:ext cx="291724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837261-45D7-4B60-B87D-AA5B5D60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2667000"/>
            <a:ext cx="2533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写入状态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5476EE-43CC-4E27-8157-B497777D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5461000" cy="4467225"/>
          </a:xfrm>
          <a:prstGeom xmlns:a="http://schemas.openxmlformats.org/drawingml/2006/main" prst="roundRect">
            <a:avLst>
              <a:gd name="adj" fmla="val 21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8AB17A-2828-4748-9276-B38C34AA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AI 负责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BB8F92-6D48-473B-BD9B-48A37F7F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769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对白、文案细化、三选项措辞、场景氛围、总结。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685D8-E980-4E3E-A206-EB08B4EA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5095875"/>
            <a:ext cx="5461000" cy="4467225"/>
          </a:xfrm>
          <a:prstGeom xmlns:a="http://schemas.openxmlformats.org/drawingml/2006/main" prst="roundRect">
            <a:avLst>
              <a:gd name="adj" fmla="val 21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C5B393-8B3D-47C7-BC03-9C84AE26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3149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系统负责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694697-D974-459F-A1A2-9FEA496D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6769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能不能做、成功率、数值变化、建案、晋升、怀孕。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75EBEC-322D-45E7-90E8-41724445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5095875"/>
            <a:ext cx="5461000" cy="4467225"/>
          </a:xfrm>
          <a:prstGeom xmlns:a="http://schemas.openxmlformats.org/drawingml/2006/main" prst="roundRect">
            <a:avLst>
              <a:gd name="adj" fmla="val 2132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360E28-4707-40A5-A13C-0F99210D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31495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兜底要求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4C07E0-7858-4E7E-8A5C-AD9F6CB2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6769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关闭 AI 后仍可靠模板文本和固定选项完整跑通。</a:t>
            </a:r>
          </a:p>
        </p:txBody>
      </p:sp>
    </p:spTree>
    <p:extLst>
      <p:ext uri="{BB962C8B-B14F-4D97-AF65-F5344CB8AC3E}">
        <p14:creationId xmlns:p14="http://schemas.microsoft.com/office/powerpoint/2010/main" val="113115758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67EB9-815D-4F36-BB60-FA850C25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6840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</a:rPr>
              <a:t>落地状态与开发顺序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91FA9-08E3-4C8A-A7C4-E5DC4801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D8C"/>
          </a:solidFill>
          <a:ln xmlns:a="http://schemas.openxmlformats.org/drawingml/2006/main" w="0">
            <a:solidFill>
              <a:srgbClr val="267D8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89BC7-B983-46C5-880E-211EBEFA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670"/>
                </a:solidFill>
              </a:defRPr>
            </a:pPr>
            <a:r>
              <a:rPr sz="1800" b="0">
                <a:solidFill>
                  <a:srgbClr val="5B6670"/>
                </a:solidFill>
              </a:rPr>
              <a:t>先做纵向闭环，再扩展规则宽度。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C9DDD-138E-4BE3-82B2-60773C8A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8855"/>
            <a:ext cx="546100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86999-830F-4F5C-BD2B-A8745609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D4E89"/>
                </a:solidFill>
              </a:defRPr>
            </a:pPr>
            <a:r>
              <a:rPr sz="1800" b="1">
                <a:solidFill>
                  <a:srgbClr val="1D4E89"/>
                </a:solidFill>
              </a:rPr>
              <a:t>已落地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5F2AF-6AD0-4927-8D23-577C92B9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启动、路线、属性、开场、地图、寝殿、部分面板、AI 接口骨架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34A45-F146-4522-BDF0-D1E90271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268855"/>
            <a:ext cx="546100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DFCAE-48F6-4B32-9EA7-4C3990DC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7D8C"/>
                </a:solidFill>
              </a:defRPr>
            </a:pPr>
            <a:r>
              <a:rPr sz="1800" b="1">
                <a:solidFill>
                  <a:srgbClr val="267D8C"/>
                </a:solidFill>
              </a:rPr>
              <a:t>部分落地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74D67-050B-422F-85C9-5B9C729D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57500"/>
            <a:ext cx="493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时间体力、妃嫔、情缘、物品、位分推进、规则服务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21A364-A6F0-4DF6-830C-4265B1D9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2268855"/>
            <a:ext cx="5461000" cy="40005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336AD-3087-4F91-92AF-ECFD4EB6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476500"/>
            <a:ext cx="4933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4A48"/>
                </a:solidFill>
              </a:defRPr>
            </a:pPr>
            <a:r>
              <a:rPr sz="1800" b="1">
                <a:solidFill>
                  <a:srgbClr val="B94A48"/>
                </a:solidFill>
              </a:rPr>
              <a:t>待接主循环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203E7-CBD8-4268-AD0B-D8743A5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857500"/>
            <a:ext cx="49339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24D"/>
                </a:solidFill>
              </a:defRPr>
            </a:pPr>
            <a:r>
              <a:rPr sz="1650" b="0">
                <a:solidFill>
                  <a:srgbClr val="17324D"/>
                </a:solidFill>
              </a:rPr>
              <a:t>宫斗案件、侍寝怀孕、皇嗣管理、完整冷宫、月度压力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A731F-7352-419E-8048-D20869BA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9320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A6EA7-3DE2-4B66-96FC-26C294BE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8655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统一状态模型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EFBB9-90BB-4D65-8BD5-B59B7BB6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5913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2A3891-28B9-477E-965B-94E6EE89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9400" y="659320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06459-EC1F-4197-8C16-F228FDA6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68655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月结压力闭环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9DF26-B033-46A6-9444-93DE8DCC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65913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24628-2B1F-4AFE-8170-621C0927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00" y="659320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CDA2F-E981-4F1F-87CC-911F6482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68655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宫斗 MVP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97C7B-9243-4F73-8B6B-B3F4EE9C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913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ACCB76-6E96-484B-87B4-6A2D73BB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0399" y="659320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27902-90B3-4102-8A80-8D33C94C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8655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侍寝怀孕 MVP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CD044-F070-41F5-97D6-8B709BC9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6591300"/>
            <a:ext cx="26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7D8C"/>
                </a:solidFill>
              </a:defRPr>
            </a:pPr>
            <a:r>
              <a:rPr sz="2250" b="1">
                <a:solidFill>
                  <a:srgbClr val="267D8C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E6012F-DD6B-4AFF-BCF2-AC3A7FFA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5899" y="6593205"/>
            <a:ext cx="2978201" cy="441960"/>
          </a:xfrm>
          <a:prstGeom xmlns:a="http://schemas.openxmlformats.org/drawingml/2006/main" prst="roundRect">
            <a:avLst>
              <a:gd name="adj" fmla="val 3879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E78349-EF72-47F7-8C3E-FB5CF5E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6686550"/>
            <a:ext cx="2590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94A48"/>
                </a:solidFill>
              </a:defRPr>
            </a:pPr>
            <a:r>
              <a:rPr sz="1650" b="1">
                <a:solidFill>
                  <a:srgbClr val="B94A48"/>
                </a:solidFill>
              </a:rPr>
              <a:t>皇嗣权力线</a:t>
            </a:r>
          </a:p>
        </p:txBody>
      </p:sp>
    </p:spTree>
    <p:extLst>
      <p:ext uri="{BB962C8B-B14F-4D97-AF65-F5344CB8AC3E}">
        <p14:creationId xmlns:p14="http://schemas.microsoft.com/office/powerpoint/2010/main" val="4494803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2026-05-20T08:28:42.2680000Z</dcterms:created>
  <dcterms:modified xsi:type="dcterms:W3CDTF">2026-05-20T08:28:42.2680000Z</dcterms:modified>
</coreProperties>
</file>